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-914400"/>
            <a:ext cx="3474720" cy="347472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3200400"/>
            <a:ext cx="2194560" cy="2194560"/>
          </a:xfrm>
          <a:prstGeom prst="ellipse">
            <a:avLst/>
          </a:prstGeom>
          <a:solidFill>
            <a:srgbClr val="4A7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384048"/>
            <a:ext cx="530352" cy="5303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0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TRUST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675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Marketing &amp; Sales Division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8E8"/>
                </a:solidFill>
                <a:latin typeface="Georgia"/>
              </a:rPr>
              <a:t>Trust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7772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Complete Marketing &amp;
Sales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Marketing Campaign Dashboard  ·  Activity Tracker  ·  Notification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A complete guide to how Trust Bank's marketing and sales teams
track campaigns, manage leads, close deals, and communicate at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April 2026   ·   Q2 Report   ·   Confidential — Trust Bank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2040"/>
                </a:solidFill>
                <a:latin typeface="Calibri"/>
              </a:rPr>
              <a:t>Three systems. One integrated platform. Everything the Trust Bank marketing and sales team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80160"/>
            <a:ext cx="27889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80160"/>
            <a:ext cx="2788920" cy="5486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1444752"/>
            <a:ext cx="658368" cy="658368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144475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08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6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249424"/>
            <a:ext cx="2532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040"/>
                </a:solidFill>
                <a:latin typeface="Calibri"/>
              </a:rPr>
              <a:t>Marketing Campaign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88336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6B"/>
                </a:solidFill>
                <a:latin typeface="Calibri"/>
              </a:rPr>
              <a:t>Slides 3 –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99232"/>
            <a:ext cx="25328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Track campaigns, leads, budget, channels, and conversion in real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280160"/>
            <a:ext cx="27889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280160"/>
            <a:ext cx="2788920" cy="54864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51960" y="1444752"/>
            <a:ext cx="658368" cy="658368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44475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1408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2249424"/>
            <a:ext cx="2532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040"/>
                </a:solidFill>
                <a:latin typeface="Calibri"/>
              </a:rPr>
              <a:t>Activity 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2688336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6E56"/>
                </a:solidFill>
                <a:latin typeface="Calibri"/>
              </a:rPr>
              <a:t>Slides 13 – 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2999232"/>
            <a:ext cx="25328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Marketing and sales teams record every lead, interaction, deal, and follow-up.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280160"/>
            <a:ext cx="27889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280160"/>
            <a:ext cx="2788920" cy="54864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6328" y="1444752"/>
            <a:ext cx="658368" cy="658368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6328" y="144475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1408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C3489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249424"/>
            <a:ext cx="2532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040"/>
                </a:solidFill>
                <a:latin typeface="Calibri"/>
              </a:rPr>
              <a:t>Notification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2688336"/>
            <a:ext cx="2532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C3489"/>
                </a:solidFill>
                <a:latin typeface="Calibri"/>
              </a:rPr>
              <a:t>Slides 24 – 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2999232"/>
            <a:ext cx="25328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Send bulk SMS, email, and in-app alerts automatically and at scale.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Each section can be presented independently or as a full end-to-end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0" y="3108960"/>
            <a:ext cx="2011680" cy="201168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SECTION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Marketing Campaign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Track campaigns, leads, budget, and performance in real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Trust Bank   ·   Marketing &amp; Sales Division   ·   April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the Dashboard?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2040"/>
                </a:solidFill>
              </a:rPr>
              <a:t>Think of it as the marketing team's control room — one screen that shows everything happening with your campaigns right 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103120" cy="731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691640"/>
            <a:ext cx="548640" cy="548640"/>
          </a:xfrm>
          <a:prstGeom prst="ellipse">
            <a:avLst/>
          </a:prstGeom>
          <a:solidFill>
            <a:srgbClr val="1A3A6B">
              <a:alpha val="85000"/>
            </a:srgbClr>
          </a:solidFill>
          <a:ln w="12700">
            <a:solidFill>
              <a:srgbClr val="1A3A6B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See Results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880360"/>
            <a:ext cx="18836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Instantly know how many people are responding to each campaign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50876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508760"/>
            <a:ext cx="2103120" cy="73152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691640"/>
            <a:ext cx="548640" cy="548640"/>
          </a:xfrm>
          <a:prstGeom prst="ellipse">
            <a:avLst/>
          </a:prstGeom>
          <a:solidFill>
            <a:srgbClr val="4A7FC1">
              <a:alpha val="85000"/>
            </a:srgbClr>
          </a:solidFill>
          <a:ln w="12700">
            <a:solidFill>
              <a:srgbClr val="4A7FC1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Track Spending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07208" y="2880360"/>
            <a:ext cx="18836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See exactly where your marketing budget is going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50876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1508760"/>
            <a:ext cx="210312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06440" y="1691640"/>
            <a:ext cx="548640" cy="548640"/>
          </a:xfrm>
          <a:prstGeom prst="ellipse">
            <a:avLst/>
          </a:prstGeom>
          <a:solidFill>
            <a:srgbClr val="00A8E8">
              <a:alpha val="85000"/>
            </a:srgbClr>
          </a:solidFill>
          <a:ln w="12700">
            <a:solidFill>
              <a:srgbClr val="00A8E8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Compare Channels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38928" y="2880360"/>
            <a:ext cx="18836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Find out which channel (SMS, Email, Digital, Branch) works best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50876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60920" y="1508760"/>
            <a:ext cx="2103120" cy="73152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22" name="Shape 20"/>
          <p:cNvSpPr/>
          <p:nvPr/>
        </p:nvSpPr>
        <p:spPr>
          <a:xfrm>
            <a:off x="8138160" y="1691640"/>
            <a:ext cx="548640" cy="548640"/>
          </a:xfrm>
          <a:prstGeom prst="ellipse">
            <a:avLst/>
          </a:prstGeom>
          <a:solidFill>
            <a:srgbClr val="3B6D11">
              <a:alpha val="85000"/>
            </a:srgbClr>
          </a:solidFill>
          <a:ln w="12700">
            <a:solidFill>
              <a:srgbClr val="3B6D11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377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Make Decisions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70648" y="2880360"/>
            <a:ext cx="18836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 real data to decide what to do next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 technical knowledge needed — the dashboard is built to be simple and visual for everyone.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5 Key Metrics — What They Mean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1691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87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Total Leads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Number of people who showed interest in Trust Bank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04672"/>
            <a:ext cx="64008" cy="1691640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87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6D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Conversions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Leads who became actual 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04672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04672"/>
            <a:ext cx="64008" cy="1691640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9875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7F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Conversion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Out of every 100 interested people, 17 became customers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72768" y="278892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572768" y="2788920"/>
            <a:ext cx="64008" cy="1691640"/>
          </a:xfrm>
          <a:prstGeom prst="rect">
            <a:avLst/>
          </a:prstGeom>
          <a:solidFill>
            <a:srgbClr val="533AB7"/>
          </a:solidFill>
          <a:ln/>
        </p:spPr>
      </p:sp>
      <p:sp>
        <p:nvSpPr>
          <p:cNvPr id="21" name="Text 19"/>
          <p:cNvSpPr/>
          <p:nvPr/>
        </p:nvSpPr>
        <p:spPr>
          <a:xfrm>
            <a:off x="1709928" y="2971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33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709928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Campaigns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09928" y="38130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marketing campaigns running (3 active right now)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53128" y="2788920"/>
            <a:ext cx="24688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53128" y="2788920"/>
            <a:ext cx="64008" cy="169164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2971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90288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Budget Used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0288" y="38130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 320,000 of the D 470,000 total budget has been spent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Green arrows = growing. Red arrows = declining. These update every time data is refreshed.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Channel Filter — Slice Your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040"/>
                </a:solidFill>
              </a:rPr>
              <a:t>Click any button to instantly see data for just that channel: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Campaigns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1188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4A7FC1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188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3B6D1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188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854F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118872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533AB7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Digital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9992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299923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2,100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3924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Conversions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39242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312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7856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Conv.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78561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14.9%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1788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Used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417880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71%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41448" y="173736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081528" y="1874520"/>
            <a:ext cx="640080" cy="64008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8152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32888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SMS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32888" y="29992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01568" y="299923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1,050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32888" y="33924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Conversions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1568" y="339242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198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32888" y="37856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Conv. 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01568" y="378561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18.9%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32888" y="41788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Used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01568" y="417880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60%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08576" y="173736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48656" y="1874520"/>
            <a:ext cx="640080" cy="640080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865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00016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Email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00016" y="29992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68696" y="299923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900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0016" y="33924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Conversions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68696" y="339242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174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00016" y="37856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Conv. Rate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68696" y="378561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19.3%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00016" y="41788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Used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68696" y="417880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65%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75704" y="173736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415784" y="1874520"/>
            <a:ext cx="640080" cy="640080"/>
          </a:xfrm>
          <a:prstGeom prst="ellipse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1578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867144" y="2615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Branch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867144" y="29992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35824" y="299923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762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67144" y="33924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Conversions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35824" y="339242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147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67144" y="37856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Conv. Rate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735824" y="378561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19.3%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867144" y="41788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Used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35824" y="417880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65%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Charts — What They Show You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Leads by channel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Which channels are bringing in the most potential customers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298448"/>
          <a:ext cx="4114800" cy="22860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Monthly lead trend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 our marketing gaining momentum month by month?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298448"/>
          <a:ext cx="42062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749040"/>
            <a:ext cx="4114800" cy="1005840"/>
          </a:xfrm>
          <a:prstGeom prst="rect">
            <a:avLst/>
          </a:prstGeom>
          <a:solidFill>
            <a:srgbClr val="EBF2FF"/>
          </a:solidFill>
          <a:ln w="6350">
            <a:solidFill>
              <a:srgbClr val="4A7FC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3822192"/>
            <a:ext cx="38404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Key insight: Digital brings in the most leads (2,100), but SMS and Email have higher conversion rates — meaning fewer but more committed customers.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3749040"/>
            <a:ext cx="4206240" cy="1005840"/>
          </a:xfrm>
          <a:prstGeom prst="rect">
            <a:avLst/>
          </a:prstGeom>
          <a:solidFill>
            <a:srgbClr val="EBF2FF"/>
          </a:solidFill>
          <a:ln w="6350">
            <a:solidFill>
              <a:srgbClr val="4A7FC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0600" y="3822192"/>
            <a:ext cx="3931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Key insight: Leads grew from 980 in January to 1,372 in April — a 40% increase. This means our campaigns are getting stronger every month.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Conversion Funnel — The Customer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040"/>
                </a:solidFill>
              </a:rPr>
              <a:t>This funnel shows what happens to a customer from the first time they see our ad to the moment they sign up: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777240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710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128,400  (100%)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1399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People who saw our ads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34440" y="2130552"/>
            <a:ext cx="5943600" cy="658368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671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4505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12,240  (9.5%)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2295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Clicked to learn more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3026664"/>
            <a:ext cx="4114800" cy="65836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4,812  (3.7%)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191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Filled a form or called 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3922776"/>
            <a:ext cx="2286000" cy="658368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3959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831  (0.6%)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4087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Became Trust Bank customers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8595360" cy="246888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Marketing goal: Push more people from 'Clicks' to 'Leads' — this is where the biggest opportunity lies.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Campaigns Table — What Is Running?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040"/>
                </a:solidFill>
              </a:rPr>
              <a:t>Every campaign in one place — name, channel, leads, conversions, status, and spend: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56032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430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Campaign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143000"/>
            <a:ext cx="146304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907792" y="11430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Channel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143000"/>
            <a:ext cx="77724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/>
          <p:nvPr/>
        </p:nvSpPr>
        <p:spPr>
          <a:xfrm>
            <a:off x="4370832" y="114300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1143000"/>
            <a:ext cx="77724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5148072" y="1143000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143000"/>
            <a:ext cx="91440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5925312" y="114300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143000"/>
            <a:ext cx="164592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6839712" y="1143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Budget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490472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4904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Q2 Savings Drive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1490472"/>
            <a:ext cx="1463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14904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Digital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490472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149047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1,240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1490472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149047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198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1490472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57276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3B6D11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1572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Active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1490472"/>
            <a:ext cx="16459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14904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 85k / 100k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256032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1965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Home Loan Promo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1965960"/>
            <a:ext cx="14630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07792" y="19659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Email + SMS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1965960"/>
            <a:ext cx="7772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196596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980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74920" y="1965960"/>
            <a:ext cx="7772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196596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174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52160" y="1965960"/>
            <a:ext cx="91440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2048256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3B6D11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2048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Active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1965960"/>
            <a:ext cx="164592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19659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 60k / 90k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2441448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24414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Youth Account Push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2441448"/>
            <a:ext cx="1463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07792" y="24414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Digital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297680" y="2441448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70832" y="244144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860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74920" y="2441448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48072" y="244144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142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52160" y="2441448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0" y="2523744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3B6D11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0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Active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66560" y="2441448"/>
            <a:ext cx="16459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9712" y="24414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 44k / 70k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2916936"/>
            <a:ext cx="256032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2916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Business Banking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834640" y="2916936"/>
            <a:ext cx="14630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07792" y="29169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Branch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297680" y="2916936"/>
            <a:ext cx="7772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70832" y="291693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762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74920" y="2916936"/>
            <a:ext cx="7772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48072" y="291693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130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852160" y="2916936"/>
            <a:ext cx="91440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43600" y="299923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854F0B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5943600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</a:rPr>
              <a:t>Paused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766560" y="2916936"/>
            <a:ext cx="164592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39712" y="2916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 52k / 80k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74320" y="3392424"/>
            <a:ext cx="2560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33924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Credit Card Launch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834640" y="3392424"/>
            <a:ext cx="1463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07792" y="33924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Email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297680" y="3392424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70832" y="339242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540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074920" y="3392424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48072" y="339242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98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852160" y="3392424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0" y="347472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854F0B">
              <a:alpha val="2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594360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</a:rPr>
              <a:t>Paused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766560" y="3392424"/>
            <a:ext cx="16459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39712" y="33924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 39k / 60k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74320" y="3867912"/>
            <a:ext cx="256032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" y="38679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Referral Program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834640" y="3867912"/>
            <a:ext cx="14630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907792" y="38679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SMS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297680" y="3867912"/>
            <a:ext cx="7772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38679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430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074920" y="3867912"/>
            <a:ext cx="77724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48072" y="38679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89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852160" y="3867912"/>
            <a:ext cx="91440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943600" y="395020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64748B">
              <a:alpha val="20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5943600" y="3950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Ended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766560" y="3867912"/>
            <a:ext cx="1645920" cy="47548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39712" y="38679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 40k / 70k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Active = Running now   |   Paused = Temporarily stopped   |   Ended = Completed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to Use the Dashboard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1115568"/>
            <a:ext cx="475488" cy="47548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9509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Open the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Access it on your computer or phone browser. It works on all devices.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" y="2487168"/>
            <a:ext cx="475488" cy="47548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322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Check the metric cards first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Glance at Leads, Conversions, and Budget to get a quick health check.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" y="3858768"/>
            <a:ext cx="475488" cy="47548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6941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Click a channel filter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If you manage SMS campaigns, click 'SMS' to see only your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82896" y="1115568"/>
            <a:ext cx="475488" cy="47548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9509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Look at the charts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2801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See which channel is winning and whether leads are growing month-to-month.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82896" y="2487168"/>
            <a:ext cx="475488" cy="47548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2322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Review the campaigns table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651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Check which campaigns are Active and how much budget is left.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82896" y="3858768"/>
            <a:ext cx="475488" cy="47548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6941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Take action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Pause underperforming campaigns, boost top performers, update the team.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What's Coming Next — The Full Suite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040"/>
                </a:solidFill>
              </a:rPr>
              <a:t>The dashboard is just the beginning. Here are the other tools planned for the Trust Bank Marketing Suite: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207008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07008"/>
            <a:ext cx="2743200" cy="6400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7" name="Shape 5"/>
          <p:cNvSpPr/>
          <p:nvPr/>
        </p:nvSpPr>
        <p:spPr>
          <a:xfrm>
            <a:off x="2084832" y="1335024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00A8E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084832" y="13350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E8"/>
                </a:solidFill>
              </a:rPr>
              <a:t>Next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AI Content Generator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Automatically write social media posts, SMS messages, and email campaigns with one click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07008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07008"/>
            <a:ext cx="2743200" cy="64008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335024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3B6D1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350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Planned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28416" y="13533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Loan &amp; Savings Calculator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1773936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Customer-facing tool so people can instantly see loan repayments and savings growth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207008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207008"/>
            <a:ext cx="2743200" cy="64008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9" name="Shape 17"/>
          <p:cNvSpPr/>
          <p:nvPr/>
        </p:nvSpPr>
        <p:spPr>
          <a:xfrm>
            <a:off x="7973568" y="1335024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4A7FC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973568" y="13350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C1"/>
                </a:solidFill>
              </a:rPr>
              <a:t>Planned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72784" y="13533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Lead Tracker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1773936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Manage individual leads, follow-ups, and agent assignments in one place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017520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017520"/>
            <a:ext cx="2743200" cy="64008"/>
          </a:xfrm>
          <a:prstGeom prst="rect">
            <a:avLst/>
          </a:prstGeom>
          <a:solidFill>
            <a:srgbClr val="533AB7"/>
          </a:solidFill>
          <a:ln/>
        </p:spPr>
      </p:sp>
      <p:sp>
        <p:nvSpPr>
          <p:cNvPr id="25" name="Shape 23"/>
          <p:cNvSpPr/>
          <p:nvPr/>
        </p:nvSpPr>
        <p:spPr>
          <a:xfrm>
            <a:off x="2084832" y="3145536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533AB7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084832" y="3145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3AB7"/>
                </a:solidFill>
              </a:rPr>
              <a:t>Planned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316382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Customer Segmentation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58444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Understand your customers by age, location, product interest, and behaviour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017520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017520"/>
            <a:ext cx="2743200" cy="64008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0" y="3145536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854F0B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145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4F0B"/>
                </a:solidFill>
              </a:rPr>
              <a:t>Planned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28416" y="316382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Campaign Creator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28416" y="358444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Build and launch new marketing campaigns directly from the dashboard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3017520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3017520"/>
            <a:ext cx="2743200" cy="640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973568" y="3145536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1A3A6B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973568" y="3145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</a:rPr>
              <a:t>Planned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72784" y="316382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Export &amp; Reports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3584448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Download any dashboard view as a PDF or Excel file to share with stakeholders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1A3A6B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dashboard.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your campaigns.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decisions.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The Trust Bank Marketing Dashboard gives your team the visibility, speed, and confidence to run better campaigns — and grow faster.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Questions?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41605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Ask your developer to walk you through a live demo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544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Want a new feature?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45445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All tools in the suite can be added on request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Trust Bank   ·   Marketing Division   · 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0" y="3108960"/>
            <a:ext cx="2011680" cy="20116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SECTION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Activity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Record every lead, interaction, deal, and follow-up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Trust Bank   ·   Marketing &amp; Sales Division   ·   April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we are solving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040"/>
                </a:solidFill>
              </a:rPr>
              <a:t>Right now, marketing and sales activities are scattered. Here is what teams struggle with: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162763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27048"/>
            <a:ext cx="502920" cy="502920"/>
          </a:xfrm>
          <a:prstGeom prst="ellipse">
            <a:avLst/>
          </a:prstGeom>
          <a:solidFill>
            <a:srgbClr val="FCEBEB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2D2D"/>
                </a:solidFill>
              </a:rPr>
              <a:t>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3990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No single record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Leads, follow-ups and deals are tracked in notebooks, WhatsApp, or not at 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605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162763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527048"/>
            <a:ext cx="502920" cy="502920"/>
          </a:xfrm>
          <a:prstGeom prst="ellipse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54F0B"/>
                </a:solidFill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3990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No accountability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737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Nobody knows who is handling which customer or what stage a deal is 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81528"/>
            <a:ext cx="41605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81528"/>
            <a:ext cx="64008" cy="16276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374136"/>
            <a:ext cx="502920" cy="502920"/>
          </a:xfrm>
          <a:prstGeom prst="ellipse">
            <a:avLst/>
          </a:prstGeom>
          <a:solidFill>
            <a:srgbClr val="EEEDFE"/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489"/>
                </a:solidFill>
              </a:rPr>
              <a:t>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246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No visibility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5844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Management cannot see how campaigns are performing or how many deals are closing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81528"/>
            <a:ext cx="41605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81528"/>
            <a:ext cx="64008" cy="16276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3374136"/>
            <a:ext cx="502920" cy="502920"/>
          </a:xfrm>
          <a:prstGeom prst="ellipse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</a:rPr>
              <a:t>~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3246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No history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35844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When a staff member leaves, all customer knowledge walks out the door with them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The Activity Tracker solves all four of these problems in one tool.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the Activity Tracker?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040"/>
                </a:solidFill>
              </a:rPr>
              <a:t>A single web-based system where every marketing and sales team member logs in, records their work, and sees the full picture.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3533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53312"/>
            <a:ext cx="2743200" cy="5486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" y="1517904"/>
            <a:ext cx="420624" cy="42062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179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Individual user accounts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011680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staff member has their own login. Their activities are tied to their name and role.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3533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53312"/>
            <a:ext cx="2743200" cy="54864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517904"/>
            <a:ext cx="420624" cy="420624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58768" y="15179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Campaign tracking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Marketing records every campaign — channel, budget, leads generated, and status.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3533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353312"/>
            <a:ext cx="274320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1928" y="1517904"/>
            <a:ext cx="420624" cy="42062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3136" y="15179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Lead management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2011680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Every potential customer is recorded with contact details, source, and current stage.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1821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182112"/>
            <a:ext cx="2743200" cy="54864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25" name="Shape 23"/>
          <p:cNvSpPr/>
          <p:nvPr/>
        </p:nvSpPr>
        <p:spPr>
          <a:xfrm>
            <a:off x="393192" y="3346704"/>
            <a:ext cx="420624" cy="420624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3467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Customer interactions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" y="3840480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Log every call, meeting, and follow-up. Build a full history for every customer.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1821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182112"/>
            <a:ext cx="2743200" cy="54864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31" name="Shape 29"/>
          <p:cNvSpPr/>
          <p:nvPr/>
        </p:nvSpPr>
        <p:spPr>
          <a:xfrm>
            <a:off x="3337560" y="3346704"/>
            <a:ext cx="420624" cy="420624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58768" y="33467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Sales deals &amp; pipeline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840480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Sales records every deal — value, stage, product, and expected close date.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3182112"/>
            <a:ext cx="27432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3182112"/>
            <a:ext cx="2743200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7" name="Shape 35"/>
          <p:cNvSpPr/>
          <p:nvPr/>
        </p:nvSpPr>
        <p:spPr>
          <a:xfrm>
            <a:off x="6281928" y="3346704"/>
            <a:ext cx="420624" cy="420624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03136" y="33467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Revenue dashboard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81928" y="3840480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Management sees live totals: revenue closed, deals in progress, team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logins and roles — who sees what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040"/>
                </a:solidFill>
              </a:rPr>
              <a:t>Every person logs in with their own account. The system knows who they are and what they can 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88920" cy="54864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389888"/>
            <a:ext cx="676656" cy="676656"/>
          </a:xfrm>
          <a:prstGeom prst="ellipse">
            <a:avLst/>
          </a:prstGeom>
          <a:solidFill>
            <a:srgbClr val="E6F1FB"/>
          </a:solidFill>
          <a:ln w="10160">
            <a:solidFill>
              <a:srgbClr val="4A7F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389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47C"/>
                </a:solidFill>
              </a:rPr>
              <a:t>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Marketing Officer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Can do: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7980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Log and manage campaigns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Record leads generated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41985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Track budget per campaign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730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View their own performance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965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Cannot: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3159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See sales deals or revenue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5902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Edit other users' records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2344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1234440"/>
            <a:ext cx="278892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0" name="Shape 18"/>
          <p:cNvSpPr/>
          <p:nvPr/>
        </p:nvSpPr>
        <p:spPr>
          <a:xfrm>
            <a:off x="4270248" y="1389888"/>
            <a:ext cx="676656" cy="676656"/>
          </a:xfrm>
          <a:prstGeom prst="ellipse">
            <a:avLst/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1389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E56"/>
                </a:solidFill>
              </a:rPr>
              <a:t>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28416" y="217627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Sales Officer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2578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Can do: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27980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Manage assigned leads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55848" y="3108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Log customer interactions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341985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Record deals and close dates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55848" y="3730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Track their own pipeline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40965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Cannot: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43159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Edit campaign budgets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55848" y="45902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See other staff's commissions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63056" y="123444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1234440"/>
            <a:ext cx="2788920" cy="5486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3" name="Shape 31"/>
          <p:cNvSpPr/>
          <p:nvPr/>
        </p:nvSpPr>
        <p:spPr>
          <a:xfrm>
            <a:off x="7214616" y="1389888"/>
            <a:ext cx="676656" cy="676656"/>
          </a:xfrm>
          <a:prstGeom prst="ellipse">
            <a:avLst/>
          </a:prstGeom>
          <a:solidFill>
            <a:srgbClr val="E6F1FB"/>
          </a:solidFill>
          <a:ln w="1016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14616" y="13898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47C"/>
                </a:solidFill>
              </a:rPr>
              <a:t>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72784" y="217627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Manager / Admin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0216" y="2578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Can do: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0216" y="27980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See all staff activities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0216" y="3108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View full revenue dashboard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0216" y="341985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Manage user accounts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0216" y="3730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Export reports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0216" y="40965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Cannot: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0216" y="43159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No restrictions — full access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Marketing team — what they track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663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1234440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778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Campaign records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Name, channel (Digital/SMS/Email/Branch), start &amp; end date, budget, target audience, and current status (Active / Paused / Ended).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4663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94560"/>
            <a:ext cx="64008" cy="1234440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677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Lead recording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Every lead is logged: name, phone, product interested in, where they came from, and which marketing officer brought them 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4663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84448"/>
            <a:ext cx="64008" cy="1234440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576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Budget tracking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68496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 each campaign, the officer enters spend to date. The system calculates % used vs total budget automatically.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804672"/>
            <a:ext cx="35661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914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Campaign record example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261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Campaign name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95160" y="1261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Q2 Savings Drive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536192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609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Channel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6093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Digital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1883664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9568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Start 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1956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01 Apr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231136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304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2304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D 100,000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2578608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Spent so far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D 85,000  (85%)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2926080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999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Leads generated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2999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1,240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94960" y="3273552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Status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33467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Active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3621024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694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Officer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3694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Fatou Ceesay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Sales team — what they track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60520" y="804672"/>
            <a:ext cx="4663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60520" y="804672"/>
            <a:ext cx="64008" cy="12344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4343400" y="8778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Customer interactions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1188720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Every call, branch visit, or meeting is logged: date, customer name, what was discussed, and what happens next.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2194560"/>
            <a:ext cx="4663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60520" y="2194560"/>
            <a:ext cx="64008" cy="12344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2677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Follow-up reminders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578608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Sales officers set follow-up dates. The tracker highlights overdue follow-ups in red so nothing slips through.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3584448"/>
            <a:ext cx="46634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3584448"/>
            <a:ext cx="64008" cy="12344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36576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Deals &amp;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3968496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Each deal has a value, product type, stage (Prospect / Negotiation / Won / Lost), and expected close date.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804672"/>
            <a:ext cx="35661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914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Deal record example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261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Lamin Jallow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536192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6093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1609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+220 777 1234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1883664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9568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Product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Business Loan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231136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04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Deal 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2304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D 500,000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578608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651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Negotiation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926080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999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Follow-up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1168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25 Apr 2026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273552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3467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Close date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1168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30 Apr 2026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621024"/>
            <a:ext cx="3246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6941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Sales officer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1168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040"/>
                </a:solidFill>
              </a:rPr>
              <a:t>Omar Sanneh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sales pipeline — deal stages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040"/>
                </a:solidFill>
              </a:rPr>
              <a:t>Every deal moves through 4 stages. At any time, management can see exactly where all deals are: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96596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417320"/>
            <a:ext cx="1627632" cy="658368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463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47C"/>
                </a:solidFill>
              </a:rPr>
              <a:t>Prospect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47C"/>
                </a:solidFill>
              </a:rPr>
              <a:t>24 deals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2212848"/>
            <a:ext cx="1709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 identified, first contact made. Gathering information.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3429000"/>
            <a:ext cx="1709928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value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447C"/>
                </a:solidFill>
              </a:rPr>
              <a:t>D 12M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0280" y="2011680"/>
            <a:ext cx="210312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0592" y="123444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234440"/>
            <a:ext cx="1965960" cy="5486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7" name="Shape 15"/>
          <p:cNvSpPr/>
          <p:nvPr/>
        </p:nvSpPr>
        <p:spPr>
          <a:xfrm>
            <a:off x="2615184" y="1417320"/>
            <a:ext cx="1627632" cy="658368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18" name="Text 16"/>
          <p:cNvSpPr/>
          <p:nvPr/>
        </p:nvSpPr>
        <p:spPr>
          <a:xfrm>
            <a:off x="2615184" y="1463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54F0B"/>
                </a:solidFill>
              </a:rPr>
              <a:t>Negotiation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15184" y="1737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</a:rPr>
              <a:t>13 deals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2212848"/>
            <a:ext cx="1709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 is interested. Terms and products are being discussed.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78608" y="3429000"/>
            <a:ext cx="1709928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value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64992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54F0B"/>
                </a:solidFill>
              </a:rPr>
              <a:t>D 8.5M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16552" y="2011680"/>
            <a:ext cx="210312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123444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234440"/>
            <a:ext cx="1965960" cy="54864"/>
          </a:xfrm>
          <a:prstGeom prst="rect">
            <a:avLst/>
          </a:prstGeom>
          <a:solidFill>
            <a:srgbClr val="639922"/>
          </a:solidFill>
          <a:ln/>
        </p:spPr>
      </p:sp>
      <p:sp>
        <p:nvSpPr>
          <p:cNvPr id="27" name="Shape 25"/>
          <p:cNvSpPr/>
          <p:nvPr/>
        </p:nvSpPr>
        <p:spPr>
          <a:xfrm>
            <a:off x="4791456" y="1417320"/>
            <a:ext cx="1627632" cy="658368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28" name="Text 26"/>
          <p:cNvSpPr/>
          <p:nvPr/>
        </p:nvSpPr>
        <p:spPr>
          <a:xfrm>
            <a:off x="4791456" y="1463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D11"/>
                </a:solidFill>
              </a:rPr>
              <a:t>Won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91456" y="1737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6D11"/>
                </a:solidFill>
              </a:rPr>
              <a:t>18 deals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212848"/>
            <a:ext cx="1709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Deal closed. Customer has signed up and account is active.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29000"/>
            <a:ext cx="1709928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value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41264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6D11"/>
                </a:solidFill>
              </a:rPr>
              <a:t>D 6.2M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92824" y="2011680"/>
            <a:ext cx="210312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03136" y="1234440"/>
            <a:ext cx="1965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03136" y="1234440"/>
            <a:ext cx="19659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967728" y="1417320"/>
            <a:ext cx="1627632" cy="658368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38" name="Text 36"/>
          <p:cNvSpPr/>
          <p:nvPr/>
        </p:nvSpPr>
        <p:spPr>
          <a:xfrm>
            <a:off x="6967728" y="14630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2D2D"/>
                </a:solidFill>
              </a:rPr>
              <a:t>Lost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67728" y="1737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7 deals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31152" y="2212848"/>
            <a:ext cx="1709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 declined. Reason is recorded for future improvement.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31152" y="3429000"/>
            <a:ext cx="1709928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31152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value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17536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32D2D"/>
                </a:solidFill>
              </a:rPr>
              <a:t>D 2.1M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754880"/>
            <a:ext cx="8595360" cy="246888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Total pipeline value: D 28.8M   |   Deals closed this quarter: 18   |   Win rate: 72%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Management dashboard — the full picture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040"/>
                </a:solidFill>
              </a:rPr>
              <a:t>Managers and admins log in to a special view that shows everything across both teams in real time: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07008"/>
            <a:ext cx="54864" cy="9144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984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170078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leads this 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207008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207008"/>
            <a:ext cx="54864" cy="914400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1" name="Text 9"/>
          <p:cNvSpPr/>
          <p:nvPr/>
        </p:nvSpPr>
        <p:spPr>
          <a:xfrm>
            <a:off x="2615184" y="12984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F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15184" y="170078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campaigns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07008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207008"/>
            <a:ext cx="54864" cy="9144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2984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91456" y="170078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Deals in pipeline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207008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207008"/>
            <a:ext cx="54864" cy="914400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19" name="Text 17"/>
          <p:cNvSpPr/>
          <p:nvPr/>
        </p:nvSpPr>
        <p:spPr>
          <a:xfrm>
            <a:off x="6967728" y="12984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6D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6.2M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67728" y="170078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closed (Q2)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286000"/>
          <a:ext cx="5303520" cy="265176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806440" y="2286000"/>
            <a:ext cx="30632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43600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Team activity summary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27249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Name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03720" y="27249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Team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63840" y="27249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This month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2980944"/>
            <a:ext cx="3063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0" y="30358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Fatou Ceesay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903720" y="30358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Marketing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80960" y="30358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12 campaigns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806440" y="3456432"/>
            <a:ext cx="3063240" cy="4572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2" name="Text 29"/>
          <p:cNvSpPr/>
          <p:nvPr/>
        </p:nvSpPr>
        <p:spPr>
          <a:xfrm>
            <a:off x="5943600" y="351129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Omar Sanneh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903720" y="35112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Sales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680960" y="35112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8 interactions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806440" y="3931920"/>
            <a:ext cx="3063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0" y="39867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Adama Bah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903720" y="39867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Marketing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680960" y="39867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9 campaigns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06440" y="4407408"/>
            <a:ext cx="3063240" cy="4572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Text 37"/>
          <p:cNvSpPr/>
          <p:nvPr/>
        </p:nvSpPr>
        <p:spPr>
          <a:xfrm>
            <a:off x="5943600" y="44622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Isatou Camara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903720" y="44622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Sales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680960" y="44622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6B"/>
                </a:solidFill>
              </a:rPr>
              <a:t>5 interactions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to use it — daily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54864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170432"/>
            <a:ext cx="676656" cy="67665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704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9659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Marketing officer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C1"/>
                </a:solidFill>
              </a:rPr>
              <a:t>Daily checklist: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Log in every morning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145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Check your campaign status and budget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Record any new leads from yesterday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41696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Update campaign statuses as things change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100584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005840"/>
            <a:ext cx="278892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0248" y="1170432"/>
            <a:ext cx="676656" cy="67665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1704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28416" y="19659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Sales officer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5848" y="23774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Daily checklist: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26334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Log in and check your follow-up list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55848" y="3145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Record any calls or meetings from yesterday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3657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Update deal stages as negotiations progress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5848" y="41696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Set follow-up dates for new leads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100584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1005840"/>
            <a:ext cx="2788920" cy="5486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6" name="Shape 24"/>
          <p:cNvSpPr/>
          <p:nvPr/>
        </p:nvSpPr>
        <p:spPr>
          <a:xfrm>
            <a:off x="7214616" y="1170432"/>
            <a:ext cx="676656" cy="676656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14616" y="11704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72784" y="19659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Manager / Admin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0216" y="23774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Daily checklist: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26334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Log in to view the full team dashboard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0216" y="3145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Check which campaigns are over budget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0216" y="36576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Review deals that are close to closing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0216" y="41696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Export reports for senior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Benefits for Trust Bank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2D2D"/>
                </a:solidFill>
              </a:rPr>
              <a:t>Before the tracker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777240"/>
            <a:ext cx="3931920" cy="347472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6D11"/>
                </a:solidFill>
              </a:rPr>
              <a:t>After the tracker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32D2D"/>
                </a:solidFill>
              </a:rPr>
              <a:t>Activities recorded in notebooks or WhatsApp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3931920" cy="603504"/>
          </a:xfrm>
          <a:prstGeom prst="rect">
            <a:avLst/>
          </a:prstGeom>
          <a:solidFill>
            <a:srgbClr val="FFF5F5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208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32D2D"/>
                </a:solidFill>
              </a:rPr>
              <a:t>No idea who is handling which customer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15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32D2D"/>
                </a:solidFill>
              </a:rPr>
              <a:t>Management cannot see campaign ROI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46704"/>
            <a:ext cx="3931920" cy="603504"/>
          </a:xfrm>
          <a:prstGeom prst="rect">
            <a:avLst/>
          </a:prstGeom>
          <a:solidFill>
            <a:srgbClr val="FFF5F5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107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32D2D"/>
                </a:solidFill>
              </a:rPr>
              <a:t>Customer history lost when staff leave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056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32D2D"/>
                </a:solidFill>
              </a:rPr>
              <a:t>No way to forecast revenue or deals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261872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6D11"/>
                </a:solidFill>
              </a:rPr>
              <a:t>Everything recorded digitally and searchable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956816"/>
            <a:ext cx="3931920" cy="603504"/>
          </a:xfrm>
          <a:prstGeom prst="rect">
            <a:avLst/>
          </a:prstGeom>
          <a:solidFill>
            <a:srgbClr val="EAF3DE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0208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6D11"/>
                </a:solidFill>
              </a:rPr>
              <a:t>Every lead assigned to a named officer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651760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715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6D11"/>
                </a:solidFill>
              </a:rPr>
              <a:t>Live campaign performance visible to 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346704"/>
            <a:ext cx="3931920" cy="603504"/>
          </a:xfrm>
          <a:prstGeom prst="rect">
            <a:avLst/>
          </a:prstGeom>
          <a:solidFill>
            <a:srgbClr val="EAF3DE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4107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6D11"/>
                </a:solidFill>
              </a:rPr>
              <a:t>Full customer interaction history preserved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4041648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1056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6D11"/>
                </a:solidFill>
              </a:rPr>
              <a:t>Real-time pipeline and revenue forecasts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777240"/>
            <a:ext cx="731520" cy="349300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3474720" cy="3474720"/>
          </a:xfrm>
          <a:prstGeom prst="ellipse">
            <a:avLst/>
          </a:prstGeom>
          <a:solidFill>
            <a:srgbClr val="1A3A6B">
              <a:alpha val="55000"/>
            </a:srgbClr>
          </a:solidFill>
          <a:ln w="12700">
            <a:solidFill>
              <a:srgbClr val="1A3A6B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teams.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clarity.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The Trust Bank Activity Tracker gives marketing and sales a single place to record every activity, track every customer, and close every deal with confidence.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Ready to start?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39319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The tracker can be set up with user accounts for the team immediately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342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Need more features?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433425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Additional modules (AI assistant, reports, mobile app) can be added anytime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Trust Bank   ·   Marketing &amp; Sales Division   · 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0" y="3108960"/>
            <a:ext cx="2011680" cy="201168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SECTION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Notification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Send bulk SMS, email, and in-app alerts automatically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Trust Bank   ·   Marketing &amp; Sales Division   ·   April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the notification system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040"/>
                </a:solidFill>
              </a:rPr>
              <a:t>One system that sends the right message to the right person at the right time — automatically or manually.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27889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34440"/>
            <a:ext cx="278892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399032"/>
            <a:ext cx="438912" cy="438912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Bulk SMS to 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94767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Send promotional messages to hundreds of customers at once — loan offers, savings reminders, new products.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889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788920" cy="54864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3" name="Shape 11"/>
          <p:cNvSpPr/>
          <p:nvPr/>
        </p:nvSpPr>
        <p:spPr>
          <a:xfrm>
            <a:off x="3328416" y="1399032"/>
            <a:ext cx="438912" cy="438912"/>
          </a:xfrm>
          <a:prstGeom prst="ellipse">
            <a:avLst/>
          </a:prstGeom>
          <a:solidFill>
            <a:srgbClr val="E6F1FB"/>
          </a:solidFill>
          <a:ln w="6350">
            <a:solidFill>
              <a:srgbClr val="4A7F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47C"/>
                </a:solidFill>
              </a:rPr>
              <a:t>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77056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Bulk email campaigns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194767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Send branded emails to customer segments — account holders, loan clients, business customers, or everyone.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234440"/>
            <a:ext cx="27889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234440"/>
            <a:ext cx="2788920" cy="54864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19" name="Shape 17"/>
          <p:cNvSpPr/>
          <p:nvPr/>
        </p:nvSpPr>
        <p:spPr>
          <a:xfrm>
            <a:off x="6272784" y="1399032"/>
            <a:ext cx="438912" cy="438912"/>
          </a:xfrm>
          <a:prstGeom prst="ellipse">
            <a:avLst/>
          </a:prstGeom>
          <a:solidFill>
            <a:srgbClr val="EEEDFE"/>
          </a:solidFill>
          <a:ln w="6350">
            <a:solidFill>
              <a:srgbClr val="3C34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399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</a:rPr>
              <a:t>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21424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In-app staff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2784" y="194767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Staff see live notifications inside the dashboard — new leads, follow-up reminders, campaign updates.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063240"/>
            <a:ext cx="27889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063240"/>
            <a:ext cx="2788920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" y="3227832"/>
            <a:ext cx="438912" cy="438912"/>
          </a:xfrm>
          <a:prstGeom prst="ellipse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F0B"/>
                </a:solidFill>
              </a:rPr>
              <a:t>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Follow-up reminders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77647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system automatically reminds sales officers when a follow-up is due, so no customer is ever forgotten.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063240"/>
            <a:ext cx="27889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063240"/>
            <a:ext cx="2788920" cy="54864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31" name="Shape 29"/>
          <p:cNvSpPr/>
          <p:nvPr/>
        </p:nvSpPr>
        <p:spPr>
          <a:xfrm>
            <a:off x="3328416" y="3227832"/>
            <a:ext cx="438912" cy="438912"/>
          </a:xfrm>
          <a:prstGeom prst="ellipse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6D11"/>
                </a:solidFill>
              </a:rPr>
              <a:t>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77056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New lead alerts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28416" y="377647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When a new lead is recorded, the assigned sales officer is instantly notified via SMS, email, and in-app.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3063240"/>
            <a:ext cx="27889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3063240"/>
            <a:ext cx="2788920" cy="5486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7" name="Shape 35"/>
          <p:cNvSpPr/>
          <p:nvPr/>
        </p:nvSpPr>
        <p:spPr>
          <a:xfrm>
            <a:off x="6272784" y="3227832"/>
            <a:ext cx="438912" cy="438912"/>
          </a:xfrm>
          <a:prstGeom prst="ellipse">
            <a:avLst/>
          </a:prstGeom>
          <a:solidFill>
            <a:srgbClr val="E6F1FB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</a:rPr>
              <a:t>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21424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Campaign status updates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3776472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Marketing officers and managers are notified when a campaign goes live, hits budget limits, or ends.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 delivery channels — how messages reach people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788920" cy="4133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278892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Shape 4"/>
          <p:cNvSpPr/>
          <p:nvPr/>
        </p:nvSpPr>
        <p:spPr>
          <a:xfrm>
            <a:off x="1307592" y="960120"/>
            <a:ext cx="676656" cy="676656"/>
          </a:xfrm>
          <a:prstGeom prst="ellipse">
            <a:avLst/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96012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SMS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764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Customers + Staff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12140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Best for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78992" y="2121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Urgent alerts, promotions, follow-up reminders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2468880"/>
            <a:ext cx="2514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968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Reach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78992" y="25968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Works on any phone, no internet needed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2514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7238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Limit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78992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160 characters per message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Example uses: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7856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Loan offer to 500 customers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41148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Follow-up reminder to sales officer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44439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Payment due reminder to account holder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804672"/>
            <a:ext cx="2788920" cy="4133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804672"/>
            <a:ext cx="2788920" cy="54864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23" name="Shape 21"/>
          <p:cNvSpPr/>
          <p:nvPr/>
        </p:nvSpPr>
        <p:spPr>
          <a:xfrm>
            <a:off x="4251960" y="960120"/>
            <a:ext cx="676656" cy="676656"/>
          </a:xfrm>
          <a:prstGeom prst="ellipse">
            <a:avLst/>
          </a:prstGeom>
          <a:solidFill>
            <a:srgbClr val="E6F1FB"/>
          </a:solidFill>
          <a:ln w="10160">
            <a:solidFill>
              <a:srgbClr val="4A7F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96012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Email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1764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C1"/>
                </a:solidFill>
              </a:rPr>
              <a:t>Customers + Staff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28416" y="212140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Best for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23360" y="2121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Detailed campaigns, reports, account statements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28416" y="2468880"/>
            <a:ext cx="2514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25968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Reach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3360" y="25968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Rich content with Trust Bank branding and logos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28416" y="2944368"/>
            <a:ext cx="2514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307238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Limit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02336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Requires customer email address on file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28416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C1"/>
                </a:solidFill>
              </a:rPr>
              <a:t>Example uses: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28416" y="37856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Monthly newsletter to all customers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28416" y="41148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Campaign performance report to managers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28416" y="44439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Welcome email to new account holders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44768" y="804672"/>
            <a:ext cx="2788920" cy="4133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44768" y="804672"/>
            <a:ext cx="2788920" cy="54864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40" name="Shape 38"/>
          <p:cNvSpPr/>
          <p:nvPr/>
        </p:nvSpPr>
        <p:spPr>
          <a:xfrm>
            <a:off x="7196328" y="960120"/>
            <a:ext cx="676656" cy="676656"/>
          </a:xfrm>
          <a:prstGeom prst="ellipse">
            <a:avLst/>
          </a:prstGeom>
          <a:solidFill>
            <a:srgbClr val="EEEDFE"/>
          </a:solidFill>
          <a:ln w="10160">
            <a:solidFill>
              <a:srgbClr val="3C34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96328" y="96012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</a:rPr>
              <a:t>In-App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36208" y="1764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3489"/>
                </a:solidFill>
              </a:rPr>
              <a:t>Staff only (internal)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72784" y="212140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Best for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67728" y="2121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Real-time alerts while working in the dashboard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72784" y="2468880"/>
            <a:ext cx="2514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5968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Reach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67728" y="25968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Instant — no phone number or email needed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72784" y="2944368"/>
            <a:ext cx="2514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307238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Limit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67728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</a:rPr>
              <a:t>Only visible when logged into the tracker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72784" y="35661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3489"/>
                </a:solidFill>
              </a:rPr>
              <a:t>Example uses: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72784" y="37856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New lead assigned to you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72784" y="41148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Campaign budget 90% used warning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72784" y="44439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</a:rPr>
              <a:t>Overdue follow-up reminder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Who sends what — roles and permissions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2040"/>
                </a:solidFill>
              </a:rPr>
              <a:t>Each role has specific notification powers. Managers control bulk sends; staff receive smart alerts automatically.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88720"/>
            <a:ext cx="2788920" cy="5486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Shape 5"/>
          <p:cNvSpPr/>
          <p:nvPr/>
        </p:nvSpPr>
        <p:spPr>
          <a:xfrm>
            <a:off x="1307592" y="1353312"/>
            <a:ext cx="676656" cy="676656"/>
          </a:xfrm>
          <a:prstGeom prst="ellipse">
            <a:avLst/>
          </a:prstGeom>
          <a:solidFill>
            <a:srgbClr val="E6F1FB"/>
          </a:solidFill>
          <a:ln w="1016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3533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Manager / Admin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5146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Can send: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7432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Bulk SMS to all customers or segments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0723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Bulk email newsletters and campaigns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4015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System-wide announcements to all staff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7307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Campaign launch and end notifications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41513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C1"/>
                </a:solidFill>
              </a:rPr>
              <a:t>Receives: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4389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Team performance alerts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470001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Budget limit warnings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50109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Weekly summary digest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18872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88720"/>
            <a:ext cx="2788920" cy="54864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1960" y="1353312"/>
            <a:ext cx="676656" cy="676656"/>
          </a:xfrm>
          <a:prstGeom prst="ellipse">
            <a:avLst/>
          </a:prstGeom>
          <a:solidFill>
            <a:srgbClr val="E6F1FB"/>
          </a:solidFill>
          <a:ln w="10160">
            <a:solidFill>
              <a:srgbClr val="4A7F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3533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Marketing Officer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28416" y="25146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Can send: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7432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SMS to leads from their campaign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28416" y="30723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Email updates to campaign leads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28416" y="34015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Notify sales team of new leads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28416" y="38221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C1"/>
                </a:solidFill>
              </a:rPr>
              <a:t>Receives: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28416" y="4059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Campaign milestone alerts (50%, 90% budget)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28416" y="43708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New lead assigned notification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28416" y="46817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Campaign approval from manager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118872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1188720"/>
            <a:ext cx="278892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4" name="Shape 32"/>
          <p:cNvSpPr/>
          <p:nvPr/>
        </p:nvSpPr>
        <p:spPr>
          <a:xfrm>
            <a:off x="7196328" y="1353312"/>
            <a:ext cx="676656" cy="676656"/>
          </a:xfrm>
          <a:prstGeom prst="ellipse">
            <a:avLst/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13533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SO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6208" y="2139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040"/>
                </a:solidFill>
              </a:rPr>
              <a:t>Sales Officer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72784" y="25146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Can send: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2784" y="27432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SMS follow-up to their own assigned leads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72784" y="30723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Email to individual customers they manage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72784" y="3493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C1"/>
                </a:solidFill>
              </a:rPr>
              <a:t>Receives: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72784" y="3730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New lead alert (instant)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72784" y="4041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Follow-up due reminders (daily)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72784" y="43525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Deal stage update confirmations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bulk notifications work — step by step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040"/>
                </a:solidFill>
              </a:rPr>
              <a:t>Sending a bulk SMS or email to customers takes 4 simple steps: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62456"/>
            <a:ext cx="493776" cy="493776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Choose your audience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910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Select who gets the message: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All customers · Loan clients · Savings holders · Business accounts · Custom list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011680"/>
            <a:ext cx="0" cy="128016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39696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295144"/>
            <a:ext cx="493776" cy="49377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951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2231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Write your message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5237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Type your SMS (max 160 chars) or compose your email with Trust Bank branding. Use templates for speed.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2944368"/>
            <a:ext cx="0" cy="128016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72384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227832"/>
            <a:ext cx="493776" cy="49377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Preview and approve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34564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See exactly how the message looks before sending. Managers must approve bulk sends over 100 recipients.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3877056"/>
            <a:ext cx="0" cy="128016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05072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4160520"/>
            <a:ext cx="493776" cy="49377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60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4096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</a:rPr>
              <a:t>Send and track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3891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Click send. The system shows delivery status, open rates (email), and lets you schedule for a future date/time.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956048"/>
            <a:ext cx="8595360" cy="9144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Scheduled sends: Set a future date and time — the system sends automatically, even outside office hours.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All 5 notification types explained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86384"/>
            <a:ext cx="64008" cy="749808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41248"/>
            <a:ext cx="1828800" cy="256032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84124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4F0B"/>
                </a:solidFill>
              </a:rPr>
              <a:t>Follow-up reminders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Trigger: Automatic — fired when a follow-up date is reached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To: Sales officer (in-app + SMS)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877824"/>
            <a:ext cx="4279392" cy="56692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89611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040"/>
                </a:solidFill>
              </a:rPr>
              <a:t>"Reminder: Follow up with Lamin Jallow today re: Business Loan — D 500,000 deal"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45920"/>
            <a:ext cx="64008" cy="749808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700784"/>
            <a:ext cx="1828800" cy="256032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17007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447C"/>
                </a:solidFill>
              </a:rPr>
              <a:t>Campaign updates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Trigger: Automatic — when budget hits 50%, 90%, or campaign ends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2128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To: Marketing officer + Manager (in-app + email)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737360"/>
            <a:ext cx="4279392" cy="56692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75564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040"/>
                </a:solidFill>
              </a:rPr>
              <a:t>"Q2 Savings Drive has used 90% of its budget (D 90,000 of D 100,000). Review now."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505456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05456"/>
            <a:ext cx="64008" cy="74980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560320"/>
            <a:ext cx="1828800" cy="256032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5603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</a:rPr>
              <a:t>Bulk customer announcements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8895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Trigger: Manual — Manager composes and sends to a customer group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072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To: All customers or a selected segment (SMS + Email)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2596896"/>
            <a:ext cx="4279392" cy="56692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61518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040"/>
                </a:solidFill>
              </a:rPr>
              <a:t>"Dear valued customer, Trust Bank is offering a special home loan rate of 8% this April. Call us today."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364992"/>
            <a:ext cx="64008" cy="749808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419856"/>
            <a:ext cx="1828800" cy="256032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341985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6D11"/>
                </a:solidFill>
              </a:rPr>
              <a:t>New lead alerts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Trigger: Automatic — fired the moment a new lead is recorded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To: Assigned sales officer (in-app + SMS)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3456432"/>
            <a:ext cx="4279392" cy="56692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4747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040"/>
                </a:solidFill>
              </a:rPr>
              <a:t>"New lead assigned: Aminata Touray, interested in Savings Account. Contact: +220 777 5678"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224528"/>
            <a:ext cx="8595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224528"/>
            <a:ext cx="64008" cy="749808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279392"/>
            <a:ext cx="1828800" cy="256032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" y="427939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3489"/>
                </a:solidFill>
              </a:rPr>
              <a:t>System announcements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6085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Trigger: Manual — Manager sends to all staff at once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To: All staff (in-app + email)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80560" y="4315968"/>
            <a:ext cx="4279392" cy="56692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433425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040"/>
                </a:solidFill>
              </a:rPr>
              <a:t>"All staff: Q2 campaign targets have been updated. Log in to the tracker to see your new goals."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In-app notification centre — staff alerts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040"/>
                </a:solidFill>
              </a:rPr>
              <a:t>Every staff member sees a notification bell in their dashboard. Here is what it looks like: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3931920" cy="40233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Notifications  (4 unread)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117043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Mark all read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3931920" cy="493776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" y="1728216"/>
            <a:ext cx="182880" cy="18288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627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40"/>
                </a:solidFill>
              </a:rPr>
              <a:t>New lead assigned: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18288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Aminata Touray — Savings Acct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7190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 min ago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" y="2066544"/>
            <a:ext cx="3657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75688"/>
            <a:ext cx="3931920" cy="493776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" y="2231136"/>
            <a:ext cx="182880" cy="182880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305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40"/>
                </a:solidFill>
              </a:rPr>
              <a:t>Follow-up due today: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2331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Lamin Jallow — Business Loan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2219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 min ago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2336" y="2569464"/>
            <a:ext cx="3657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78608"/>
            <a:ext cx="3931920" cy="493776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" y="2734056"/>
            <a:ext cx="182880" cy="1828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633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40"/>
                </a:solidFill>
              </a:rPr>
              <a:t>Budget warning: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2834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Q2 Savings Drive at 90%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272491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hr ago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2336" y="3072384"/>
            <a:ext cx="3657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081528"/>
            <a:ext cx="3931920" cy="493776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2336" y="3236976"/>
            <a:ext cx="182880" cy="182880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1363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40"/>
                </a:solidFill>
              </a:rPr>
              <a:t>Campaign launched: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337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Youth Account Push is live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32278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 hrs ago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02336" y="3575304"/>
            <a:ext cx="3657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584448"/>
            <a:ext cx="393192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2336" y="3739896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36393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40"/>
                </a:solidFill>
              </a:rPr>
              <a:t>Manager message: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" y="3840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Q2 targets have been updated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37307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Yesterday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02336" y="4078224"/>
            <a:ext cx="36576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087368"/>
            <a:ext cx="393192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4242816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1422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040"/>
                </a:solidFill>
              </a:rPr>
              <a:t>Lead converted: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43434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Omar Bah — Home Loan closed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0" y="42336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Yesterday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34840" y="1170432"/>
            <a:ext cx="4434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34840" y="1170432"/>
            <a:ext cx="54864" cy="8046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6" name="Text 44"/>
          <p:cNvSpPr/>
          <p:nvPr/>
        </p:nvSpPr>
        <p:spPr>
          <a:xfrm>
            <a:off x="4608576" y="12435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Colour-coded alerts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08576" y="15361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Green = lead, Amber = follow-up due, Red = urgent warning, Blue = campaign, Grey = general info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34840" y="2084832"/>
            <a:ext cx="4434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34840" y="2084832"/>
            <a:ext cx="54864" cy="8046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0" name="Text 48"/>
          <p:cNvSpPr/>
          <p:nvPr/>
        </p:nvSpPr>
        <p:spPr>
          <a:xfrm>
            <a:off x="4608576" y="21579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Unread badge count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608576" y="24505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bell icon shows a red badge with the number of unread notifications — staff always know when something needs attention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34840" y="2999232"/>
            <a:ext cx="4434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434840" y="2999232"/>
            <a:ext cx="54864" cy="8046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4" name="Text 52"/>
          <p:cNvSpPr/>
          <p:nvPr/>
        </p:nvSpPr>
        <p:spPr>
          <a:xfrm>
            <a:off x="4608576" y="30723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One-click action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608576" y="33649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Clicking any notification takes the staff member directly to the relevant lead, campaign, or deal — no searching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34840" y="3913632"/>
            <a:ext cx="4434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434840" y="3913632"/>
            <a:ext cx="54864" cy="8046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8" name="Text 56"/>
          <p:cNvSpPr/>
          <p:nvPr/>
        </p:nvSpPr>
        <p:spPr>
          <a:xfrm>
            <a:off x="4608576" y="3986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Mark as read / dismiss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608576" y="42793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Staff can clear individual notifications or mark all as read. Dismissed alerts are stored in history for 30 days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Bulk SMS — how it looks in practice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040"/>
                </a:solidFill>
              </a:rPr>
              <a:t>A manager composes a bulk SMS campaign in 3 steps and sends to a selected customer group: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937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261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New bulk SMS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664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Send 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" y="1883664"/>
            <a:ext cx="4572000" cy="29260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8836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Savings account holders  (1,240 recipients)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304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Sender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" y="2523744"/>
            <a:ext cx="4572000" cy="29260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5237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Trust Bank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" y="29443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Schedule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" y="3163824"/>
            <a:ext cx="4572000" cy="292608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1638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Send now  /  Schedule for: 25 Apr 2026, 9:00 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" y="3584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Message (160 chars max)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" y="3803904"/>
            <a:ext cx="4572000" cy="694944"/>
          </a:xfrm>
          <a:prstGeom prst="rect">
            <a:avLst/>
          </a:prstGeom>
          <a:solidFill>
            <a:srgbClr val="F4F7F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84048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040"/>
                </a:solidFill>
              </a:rPr>
              <a:t>Dear Trust Bank customer, earn more with our 12% savings rate. Visit any branch or call 4200000 today. T&amp;Cs apply.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21024" y="4535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128 / 160 chars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1170432"/>
            <a:ext cx="34290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261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040"/>
                </a:solidFill>
              </a:rPr>
              <a:t>Delivery summary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1664208"/>
            <a:ext cx="3154680" cy="65836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7373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2057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Recipients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468880"/>
            <a:ext cx="3154680" cy="65836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25420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1,198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77840" y="2862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Delivered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273552"/>
            <a:ext cx="3154680" cy="65836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33467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77840" y="36667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Failed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4078224"/>
            <a:ext cx="3154680" cy="65836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415137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620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447141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Cost (est.)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4645152"/>
            <a:ext cx="3154680" cy="219456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465429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96.6% delivery rate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Automatic notifications — no manual work needed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040"/>
                </a:solidFill>
              </a:rPr>
              <a:t>These notifications fire on their own based on rules — the system works even when nobody is watching: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224528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54864" cy="786384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" y="1243584"/>
            <a:ext cx="1828800" cy="219456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435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6D11"/>
                </a:solidFill>
              </a:rPr>
              <a:t>New lead recorded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1536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Sales officer gets instant SMS + in-app alert with lead details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18304" y="1170432"/>
            <a:ext cx="4224528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1170432"/>
            <a:ext cx="54864" cy="78638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4608" y="1243584"/>
            <a:ext cx="1828800" cy="219456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2435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</a:rPr>
              <a:t>Follow-up date reached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64608" y="1536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Sales officer gets morning reminder — SMS at 8 AM and in-app alert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084832"/>
            <a:ext cx="4224528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084832"/>
            <a:ext cx="54864" cy="786384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6" y="2157984"/>
            <a:ext cx="1828800" cy="219456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579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2D2D"/>
                </a:solidFill>
              </a:rPr>
              <a:t>Follow-up overdue (1 day)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Manager is alerted that a follow-up was missed. Red badge on officer's record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18304" y="2084832"/>
            <a:ext cx="4224528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2084832"/>
            <a:ext cx="54864" cy="786384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4608" y="2157984"/>
            <a:ext cx="1828800" cy="219456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1579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</a:rPr>
              <a:t>Campaign budget at 50%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64608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Marketing officer and manager get in-app + email notice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999232"/>
            <a:ext cx="4224528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999232"/>
            <a:ext cx="54864" cy="78638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27" name="Shape 25"/>
          <p:cNvSpPr/>
          <p:nvPr/>
        </p:nvSpPr>
        <p:spPr>
          <a:xfrm>
            <a:off x="402336" y="3072384"/>
            <a:ext cx="1828800" cy="219456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723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</a:rPr>
              <a:t>Campaign budget at 90%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2336" y="3364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Urgent email + in-app alert to marketing officer and manager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18304" y="2999232"/>
            <a:ext cx="4224528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2999232"/>
            <a:ext cx="54864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4608" y="3072384"/>
            <a:ext cx="1828800" cy="219456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30723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</a:rPr>
              <a:t>Campaign end date reached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64608" y="3364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Campaign auto-paused. Manager and officer notified by email + in-app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3913632"/>
            <a:ext cx="4224528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913632"/>
            <a:ext cx="54864" cy="786384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37" name="Shape 35"/>
          <p:cNvSpPr/>
          <p:nvPr/>
        </p:nvSpPr>
        <p:spPr>
          <a:xfrm>
            <a:off x="402336" y="3986784"/>
            <a:ext cx="1828800" cy="219456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9867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6D11"/>
                </a:solidFill>
              </a:rPr>
              <a:t>Deal marked as Won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02336" y="42793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Congratulation in-app alert to sales officer. Manager gets revenue update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18304" y="3913632"/>
            <a:ext cx="4224528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18304" y="3913632"/>
            <a:ext cx="54864" cy="786384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42" name="Shape 40"/>
          <p:cNvSpPr/>
          <p:nvPr/>
        </p:nvSpPr>
        <p:spPr>
          <a:xfrm>
            <a:off x="4864608" y="3986784"/>
            <a:ext cx="1828800" cy="219456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39867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2D2D"/>
                </a:solidFill>
              </a:rPr>
              <a:t>Deal marked as Lost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64608" y="42793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In-app alert to manager. Loss reason recorded for review.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8371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</a:rPr>
              <a:t>All automatic triggers can be turned on or off by the manager. Custom triggers can also be added on request.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Before vs after — what changes for the team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</a:rPr>
              <a:t>Without the notification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777240"/>
            <a:ext cx="3931920" cy="347472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D11"/>
                </a:solidFill>
              </a:rPr>
              <a:t>With the notification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32D2D"/>
                </a:solidFill>
              </a:rPr>
              <a:t>Managers call staff individually about new leads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3931920" cy="603504"/>
          </a:xfrm>
          <a:prstGeom prst="rect">
            <a:avLst/>
          </a:prstGeom>
          <a:solidFill>
            <a:srgbClr val="FFF5F5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208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32D2D"/>
                </a:solidFill>
              </a:rPr>
              <a:t>Follow-ups are forgotten — customers wait for days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15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32D2D"/>
                </a:solidFill>
              </a:rPr>
              <a:t>Bulk SMS sent manually from personal phones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346704"/>
            <a:ext cx="3931920" cy="603504"/>
          </a:xfrm>
          <a:prstGeom prst="rect">
            <a:avLst/>
          </a:prstGeom>
          <a:solidFill>
            <a:srgbClr val="FFF5F5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107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32D2D"/>
                </a:solidFill>
              </a:rPr>
              <a:t>Staff don't know when a campaign is near budget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F7C1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056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32D2D"/>
                </a:solidFill>
              </a:rPr>
              <a:t>No record of who was notified about what or when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1261872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6D11"/>
                </a:solidFill>
              </a:rPr>
              <a:t>Sales officer gets instant SMS + in-app alert automatically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956816"/>
            <a:ext cx="3931920" cy="603504"/>
          </a:xfrm>
          <a:prstGeom prst="rect">
            <a:avLst/>
          </a:prstGeom>
          <a:solidFill>
            <a:srgbClr val="EAF3DE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0208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6D11"/>
                </a:solidFill>
              </a:rPr>
              <a:t>System reminds staff every morning — zero leads forgotten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651760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715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6D11"/>
                </a:solidFill>
              </a:rPr>
              <a:t>Manager composes and sends to 1,000+ customers in 2 minutes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3346704"/>
            <a:ext cx="3931920" cy="603504"/>
          </a:xfrm>
          <a:prstGeom prst="rect">
            <a:avLst/>
          </a:prstGeom>
          <a:solidFill>
            <a:srgbClr val="EAF3DE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4107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6D11"/>
                </a:solidFill>
              </a:rPr>
              <a:t>Automatic budget alerts at 50% and 90% — no surprises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4041648"/>
            <a:ext cx="39319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0DD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1056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6D11"/>
                </a:solidFill>
              </a:rPr>
              <a:t>Full notification log: who received what and when it was read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0" y="777240"/>
            <a:ext cx="731520" cy="349300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3591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3474720" cy="3474720"/>
          </a:xfrm>
          <a:prstGeom prst="ellipse">
            <a:avLst/>
          </a:prstGeom>
          <a:solidFill>
            <a:srgbClr val="1A3A6B">
              <a:alpha val="55000"/>
            </a:srgbClr>
          </a:solidFill>
          <a:ln w="12700">
            <a:solidFill>
              <a:srgbClr val="1A3A6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2286000" cy="2286000"/>
          </a:xfrm>
          <a:prstGeom prst="ellipse">
            <a:avLst/>
          </a:prstGeom>
          <a:solidFill>
            <a:srgbClr val="4A7FC1">
              <a:alpha val="40000"/>
            </a:srgbClr>
          </a:solidFill>
          <a:ln w="12700">
            <a:solidFill>
              <a:srgbClr val="4A7FC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message.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person.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Automatically.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Trust Bank's notification system ensures no lead is missed, no follow-up is forgotten, and every customer hears from you at exactly the right moment.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Ready to set up?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87168" y="39319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Notification channels (SMS, email, in-app) can be configured for your team immediately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34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Custom rules needed?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87168" y="433425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Any trigger, schedule, or audience segment can be added based on Trust Bank's requirements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Trust Bank   ·   Marketing &amp; Sales Division   · 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